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0" r:id="rId3"/>
    <p:sldId id="262" r:id="rId4"/>
    <p:sldId id="263" r:id="rId5"/>
    <p:sldId id="264" r:id="rId6"/>
    <p:sldId id="265" r:id="rId7"/>
    <p:sldId id="269" r:id="rId8"/>
    <p:sldId id="266" r:id="rId9"/>
    <p:sldId id="270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866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2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40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419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59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74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20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94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17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93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44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1E09F-AD05-498D-9895-8B6CD31FE49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F6FCA-61D6-40DE-BF6C-229E9EF3A7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30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1071" y="2879398"/>
            <a:ext cx="5853547" cy="108576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60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가이드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1935477" y="1901700"/>
            <a:ext cx="8081359" cy="1085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신입생</a:t>
            </a:r>
            <a:r>
              <a:rPr lang="en-US" altLang="ko-KR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6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편입생을 위한 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954384" y="5172421"/>
            <a:ext cx="1795549" cy="501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3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 무 팀</a:t>
            </a:r>
          </a:p>
        </p:txBody>
      </p:sp>
    </p:spTree>
    <p:extLst>
      <p:ext uri="{BB962C8B-B14F-4D97-AF65-F5344CB8AC3E}">
        <p14:creationId xmlns:p14="http://schemas.microsoft.com/office/powerpoint/2010/main" val="22341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4949" y="406689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어떤 과목을 들어야하는가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b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A.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입학년도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교육과정 확인하기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4949" y="1923444"/>
            <a:ext cx="11060623" cy="4435792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신규 편입생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별첨 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편입생 </a:t>
            </a:r>
            <a:r>
              <a:rPr lang="ko-KR" altLang="en-US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학사가이드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확인</a:t>
            </a:r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교육과정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신입학생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(2025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학년도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),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편입학생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(2023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학년도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확인</a:t>
            </a:r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연도별 교육과정 확인방법</a:t>
            </a:r>
            <a:endParaRPr lang="en-US" altLang="ko-KR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→ 학교 홈페이지 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학사지원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교육과정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전공별교육과정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일반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공학교육인증 선택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연도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전공</a:t>
            </a: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 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지정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검색 클릭</a:t>
            </a: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→ 학교 홈페이지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학사지원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요람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20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규정집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요람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대학교육과정에서 학과별로 확인</a:t>
            </a: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공학교육인증 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운영학과는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공학교육인증 교육과정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 외에는 일반교육과정 확인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* 2025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학년도 요람은 홈페이지에서 확인 가능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홈페이지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1800" dirty="0" err="1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학사지원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요람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800" dirty="0" err="1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규정집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요람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(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주소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: https://www.ajou.ac.kr/kr/bachelor/handbook.do)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편입생은 입학 시 지정 받은 교육과정대로 이수하여야 함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별첨 편입생 </a:t>
            </a:r>
            <a:r>
              <a:rPr lang="ko-KR" altLang="en-US" sz="1800" dirty="0" err="1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학사가이드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확인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endParaRPr lang="ko-KR" altLang="en-US" sz="18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59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134" y="298624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어떤 과목이 개설되었는가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b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A.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수업시간표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수업계획서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확인하기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38447" y="1687483"/>
            <a:ext cx="10827866" cy="4871258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10000"/>
              </a:lnSpc>
              <a:defRPr/>
            </a:pPr>
            <a:r>
              <a:rPr lang="ko-KR" altLang="en-US" sz="2600">
                <a:solidFill>
                  <a:schemeClr val="tx1"/>
                </a:solidFill>
                <a:latin typeface="HY헤드라인M"/>
                <a:ea typeface="HY헤드라인M"/>
              </a:rPr>
              <a:t>확인방법</a:t>
            </a:r>
            <a:r>
              <a:rPr lang="en-US" altLang="ko-KR" sz="2600">
                <a:solidFill>
                  <a:schemeClr val="tx1"/>
                </a:solidFill>
                <a:latin typeface="HY헤드라인M"/>
                <a:ea typeface="HY헤드라인M"/>
              </a:rPr>
              <a:t> : </a:t>
            </a:r>
            <a:r>
              <a:rPr lang="ko-KR" altLang="en-US" sz="2600">
                <a:solidFill>
                  <a:schemeClr val="tx1"/>
                </a:solidFill>
                <a:latin typeface="HY헤드라인M"/>
                <a:ea typeface="HY헤드라인M"/>
              </a:rPr>
              <a:t>포털 로그인</a:t>
            </a:r>
            <a:r>
              <a:rPr lang="en-US" altLang="ko-KR" sz="2600">
                <a:latin typeface="HY헤드라인M"/>
                <a:ea typeface="HY헤드라인M"/>
              </a:rPr>
              <a:t>-(</a:t>
            </a:r>
            <a:r>
              <a:rPr lang="ko-KR" altLang="en-US" sz="2600">
                <a:latin typeface="HY헤드라인M"/>
                <a:ea typeface="HY헤드라인M"/>
              </a:rPr>
              <a:t>신</a:t>
            </a:r>
            <a:r>
              <a:rPr lang="en-US" altLang="ko-KR" sz="2600">
                <a:latin typeface="HY헤드라인M"/>
                <a:ea typeface="HY헤드라인M"/>
              </a:rPr>
              <a:t>)</a:t>
            </a:r>
            <a:r>
              <a:rPr lang="ko-KR" altLang="en-US" sz="2600">
                <a:latin typeface="HY헤드라인M"/>
                <a:ea typeface="HY헤드라인M"/>
              </a:rPr>
              <a:t>학사서비스</a:t>
            </a:r>
            <a:r>
              <a:rPr lang="en-US" altLang="ko-KR" sz="2600">
                <a:latin typeface="HY헤드라인M"/>
                <a:ea typeface="HY헤드라인M"/>
              </a:rPr>
              <a:t>-</a:t>
            </a:r>
            <a:r>
              <a:rPr lang="ko-KR" altLang="en-US" sz="2600">
                <a:latin typeface="HY헤드라인M"/>
                <a:ea typeface="HY헤드라인M"/>
              </a:rPr>
              <a:t>수업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비교과</a:t>
            </a:r>
            <a:r>
              <a:rPr lang="en-US" altLang="ko-KR" sz="2600">
                <a:latin typeface="HY헤드라인M"/>
                <a:ea typeface="HY헤드라인M"/>
              </a:rPr>
              <a:t>-</a:t>
            </a:r>
            <a:r>
              <a:rPr lang="ko-KR" altLang="en-US" sz="2600">
                <a:latin typeface="HY헤드라인M"/>
                <a:ea typeface="HY헤드라인M"/>
              </a:rPr>
              <a:t>시간표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수업계획서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수업평가결과</a:t>
            </a:r>
            <a:r>
              <a:rPr lang="en-US" altLang="ko-KR" sz="2600">
                <a:latin typeface="HY헤드라인M"/>
                <a:ea typeface="HY헤드라인M"/>
              </a:rPr>
              <a:t>-</a:t>
            </a:r>
            <a:r>
              <a:rPr lang="ko-KR" altLang="en-US" sz="2600">
                <a:latin typeface="HY헤드라인M"/>
                <a:ea typeface="HY헤드라인M"/>
              </a:rPr>
              <a:t>학년도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학기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교과구분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전공 지정</a:t>
            </a:r>
            <a:r>
              <a:rPr lang="en-US" altLang="ko-KR" sz="2600">
                <a:latin typeface="HY헤드라인M"/>
                <a:ea typeface="HY헤드라인M"/>
              </a:rPr>
              <a:t>-</a:t>
            </a:r>
            <a:r>
              <a:rPr lang="ko-KR" altLang="en-US" sz="2600">
                <a:latin typeface="HY헤드라인M"/>
                <a:ea typeface="HY헤드라인M"/>
              </a:rPr>
              <a:t>검색 클릭</a:t>
            </a:r>
            <a:r>
              <a:rPr lang="en-US" altLang="ko-KR" sz="2600">
                <a:latin typeface="HY헤드라인M"/>
                <a:ea typeface="HY헤드라인M"/>
              </a:rPr>
              <a:t>-</a:t>
            </a:r>
            <a:r>
              <a:rPr lang="ko-KR" altLang="en-US" sz="2600">
                <a:latin typeface="HY헤드라인M"/>
                <a:ea typeface="HY헤드라인M"/>
              </a:rPr>
              <a:t>과목 조회</a:t>
            </a:r>
          </a:p>
          <a:p>
            <a:pPr lvl="0">
              <a:lnSpc>
                <a:spcPct val="110000"/>
              </a:lnSpc>
              <a:defRPr/>
            </a:pPr>
            <a:r>
              <a:rPr lang="ko-KR" altLang="en-US" sz="2600">
                <a:latin typeface="HY헤드라인M"/>
                <a:ea typeface="HY헤드라인M"/>
              </a:rPr>
              <a:t>교과구분은 전공별 교육과정의 교과구분</a:t>
            </a:r>
            <a:r>
              <a:rPr lang="en-US" altLang="ko-KR" sz="2600">
                <a:latin typeface="HY헤드라인M"/>
                <a:ea typeface="HY헤드라인M"/>
              </a:rPr>
              <a:t>/</a:t>
            </a:r>
            <a:r>
              <a:rPr lang="ko-KR" altLang="en-US" sz="2600">
                <a:latin typeface="HY헤드라인M"/>
                <a:ea typeface="HY헤드라인M"/>
              </a:rPr>
              <a:t>학수구분 참조</a:t>
            </a:r>
          </a:p>
          <a:p>
            <a:pPr marL="0" lvl="0" indent="0">
              <a:lnSpc>
                <a:spcPts val="1500"/>
              </a:lnSpc>
              <a:buNone/>
              <a:defRPr/>
            </a:pPr>
            <a:r>
              <a:rPr lang="en-US" altLang="ko-KR" sz="1800">
                <a:latin typeface="HY헤드라인M"/>
                <a:ea typeface="HY헤드라인M"/>
              </a:rPr>
              <a:t>   * </a:t>
            </a:r>
            <a:r>
              <a:rPr lang="ko-KR" altLang="en-US" sz="1800">
                <a:latin typeface="HY헤드라인M"/>
                <a:ea typeface="HY헤드라인M"/>
              </a:rPr>
              <a:t>대학필수</a:t>
            </a:r>
            <a:r>
              <a:rPr lang="en-US" altLang="ko-KR" sz="1800">
                <a:latin typeface="HY헤드라인M"/>
                <a:ea typeface="HY헤드라인M"/>
              </a:rPr>
              <a:t>, </a:t>
            </a:r>
            <a:r>
              <a:rPr lang="ko-KR" altLang="en-US" sz="1800">
                <a:latin typeface="HY헤드라인M"/>
                <a:ea typeface="HY헤드라인M"/>
              </a:rPr>
              <a:t>계열필수</a:t>
            </a:r>
            <a:r>
              <a:rPr lang="en-US" altLang="ko-KR" sz="1800">
                <a:latin typeface="HY헤드라인M"/>
                <a:ea typeface="HY헤드라인M"/>
              </a:rPr>
              <a:t>(</a:t>
            </a:r>
            <a:r>
              <a:rPr lang="ko-KR" altLang="en-US" sz="1800">
                <a:latin typeface="HY헤드라인M"/>
                <a:ea typeface="HY헤드라인M"/>
              </a:rPr>
              <a:t>일부</a:t>
            </a:r>
            <a:r>
              <a:rPr lang="en-US" altLang="ko-KR" sz="1800">
                <a:latin typeface="HY헤드라인M"/>
                <a:ea typeface="HY헤드라인M"/>
              </a:rPr>
              <a:t>), </a:t>
            </a:r>
            <a:r>
              <a:rPr lang="ko-KR" altLang="en-US" sz="1800">
                <a:latin typeface="HY헤드라인M"/>
                <a:ea typeface="HY헤드라인M"/>
              </a:rPr>
              <a:t>전문교양 → 교양과목</a:t>
            </a:r>
            <a:r>
              <a:rPr lang="en-US" altLang="ko-KR" sz="1800">
                <a:latin typeface="HY헤드라인M"/>
                <a:ea typeface="HY헤드라인M"/>
              </a:rPr>
              <a:t>, </a:t>
            </a:r>
            <a:r>
              <a:rPr lang="ko-KR" altLang="en-US" sz="1800">
                <a:latin typeface="HY헤드라인M"/>
                <a:ea typeface="HY헤드라인M"/>
              </a:rPr>
              <a:t>영역별교양으로 조회</a:t>
            </a:r>
          </a:p>
          <a:p>
            <a:pPr marL="0" lvl="0" indent="0">
              <a:lnSpc>
                <a:spcPts val="1500"/>
              </a:lnSpc>
              <a:buNone/>
              <a:defRPr/>
            </a:pPr>
            <a:r>
              <a:rPr lang="en-US" altLang="ko-KR" sz="1800">
                <a:latin typeface="HY헤드라인M"/>
                <a:ea typeface="HY헤드라인M"/>
              </a:rPr>
              <a:t>   * </a:t>
            </a:r>
            <a:r>
              <a:rPr lang="ko-KR" altLang="en-US" sz="1800">
                <a:latin typeface="HY헤드라인M"/>
                <a:ea typeface="HY헤드라인M"/>
              </a:rPr>
              <a:t>계열필수</a:t>
            </a:r>
            <a:r>
              <a:rPr lang="en-US" altLang="ko-KR" sz="1800">
                <a:latin typeface="HY헤드라인M"/>
                <a:ea typeface="HY헤드라인M"/>
              </a:rPr>
              <a:t>(</a:t>
            </a:r>
            <a:r>
              <a:rPr lang="ko-KR" altLang="en-US" sz="1800">
                <a:latin typeface="HY헤드라인M"/>
                <a:ea typeface="HY헤드라인M"/>
              </a:rPr>
              <a:t>일부</a:t>
            </a:r>
            <a:r>
              <a:rPr lang="en-US" altLang="ko-KR" sz="1800">
                <a:latin typeface="HY헤드라인M"/>
                <a:ea typeface="HY헤드라인M"/>
              </a:rPr>
              <a:t>), BSM, MSC </a:t>
            </a:r>
            <a:r>
              <a:rPr lang="ko-KR" altLang="en-US" sz="1800">
                <a:latin typeface="HY헤드라인M"/>
                <a:ea typeface="HY헤드라인M"/>
              </a:rPr>
              <a:t>→ 기초과목으로 조회</a:t>
            </a:r>
          </a:p>
          <a:p>
            <a:pPr marL="0" lvl="0" indent="0">
              <a:lnSpc>
                <a:spcPts val="1500"/>
              </a:lnSpc>
              <a:buNone/>
              <a:defRPr/>
            </a:pPr>
            <a:r>
              <a:rPr lang="en-US" altLang="ko-KR" sz="1800">
                <a:latin typeface="HY헤드라인M"/>
                <a:ea typeface="HY헤드라인M"/>
              </a:rPr>
              <a:t>   * </a:t>
            </a:r>
            <a:r>
              <a:rPr lang="ko-KR" altLang="en-US" sz="1800">
                <a:latin typeface="HY헤드라인M"/>
                <a:ea typeface="HY헤드라인M"/>
              </a:rPr>
              <a:t>전공필수</a:t>
            </a:r>
            <a:r>
              <a:rPr lang="en-US" altLang="ko-KR" sz="1800">
                <a:latin typeface="HY헤드라인M"/>
                <a:ea typeface="HY헤드라인M"/>
              </a:rPr>
              <a:t>, </a:t>
            </a:r>
            <a:r>
              <a:rPr lang="ko-KR" altLang="en-US" sz="1800">
                <a:latin typeface="HY헤드라인M"/>
                <a:ea typeface="HY헤드라인M"/>
              </a:rPr>
              <a:t>전공선택</a:t>
            </a:r>
            <a:r>
              <a:rPr lang="en-US" altLang="ko-KR" sz="1800">
                <a:latin typeface="HY헤드라인M"/>
                <a:ea typeface="HY헤드라인M"/>
              </a:rPr>
              <a:t>,</a:t>
            </a:r>
            <a:r>
              <a:rPr lang="ko-KR" altLang="en-US" sz="1800">
                <a:latin typeface="HY헤드라인M"/>
                <a:ea typeface="HY헤드라인M"/>
              </a:rPr>
              <a:t> 전공기초 → 전공과목으로 조회</a:t>
            </a:r>
          </a:p>
          <a:p>
            <a:pPr marL="0" lvl="0" indent="0">
              <a:lnSpc>
                <a:spcPts val="1500"/>
              </a:lnSpc>
              <a:buNone/>
              <a:defRPr/>
            </a:pPr>
            <a:r>
              <a:rPr lang="en-US" altLang="ko-KR" sz="1800">
                <a:latin typeface="HY헤드라인M"/>
                <a:ea typeface="HY헤드라인M"/>
              </a:rPr>
              <a:t>   * </a:t>
            </a:r>
            <a:r>
              <a:rPr lang="ko-KR" altLang="en-US" sz="1800">
                <a:latin typeface="HY헤드라인M"/>
                <a:ea typeface="HY헤드라인M"/>
              </a:rPr>
              <a:t>영역별교양 외 교양과목 → 교양과목으로 조회</a:t>
            </a:r>
          </a:p>
          <a:p>
            <a:pPr marL="0" lvl="0" indent="0">
              <a:lnSpc>
                <a:spcPts val="1500"/>
              </a:lnSpc>
              <a:buNone/>
              <a:defRPr/>
            </a:pPr>
            <a:r>
              <a:rPr lang="en-US" altLang="ko-KR" sz="1800">
                <a:latin typeface="HY헤드라인M"/>
                <a:ea typeface="HY헤드라인M"/>
              </a:rPr>
              <a:t>   * </a:t>
            </a:r>
            <a:r>
              <a:rPr lang="ko-KR" altLang="en-US" sz="1800">
                <a:latin typeface="HY헤드라인M"/>
                <a:ea typeface="HY헤드라인M"/>
              </a:rPr>
              <a:t>교직과목</a:t>
            </a:r>
            <a:r>
              <a:rPr lang="en-US" altLang="ko-KR" sz="1800">
                <a:latin typeface="HY헤드라인M"/>
                <a:ea typeface="HY헤드라인M"/>
              </a:rPr>
              <a:t>, </a:t>
            </a:r>
            <a:r>
              <a:rPr lang="ko-KR" altLang="en-US" sz="1800">
                <a:latin typeface="HY헤드라인M"/>
                <a:ea typeface="HY헤드라인M"/>
              </a:rPr>
              <a:t>군사학과목</a:t>
            </a:r>
            <a:r>
              <a:rPr lang="en-US" altLang="ko-KR" sz="1800">
                <a:latin typeface="HY헤드라인M"/>
                <a:ea typeface="HY헤드라인M"/>
              </a:rPr>
              <a:t>, </a:t>
            </a:r>
            <a:r>
              <a:rPr lang="ko-KR" altLang="en-US" sz="1800">
                <a:latin typeface="HY헤드라인M"/>
                <a:ea typeface="HY헤드라인M"/>
              </a:rPr>
              <a:t>기타 교양과목 → 일선과목으로 조회</a:t>
            </a:r>
            <a:r>
              <a:rPr lang="en-US" altLang="ko-KR" sz="1800">
                <a:latin typeface="HY헤드라인M"/>
                <a:ea typeface="HY헤드라인M"/>
              </a:rPr>
              <a:t>   </a:t>
            </a:r>
          </a:p>
          <a:p>
            <a:pPr lvl="0">
              <a:lnSpc>
                <a:spcPct val="100000"/>
              </a:lnSpc>
              <a:defRPr/>
            </a:pPr>
            <a:r>
              <a:rPr lang="ko-KR" altLang="en-US" sz="2600">
                <a:latin typeface="HY헤드라인M"/>
                <a:ea typeface="HY헤드라인M"/>
              </a:rPr>
              <a:t>전공과목 조회 시 전공 지정은 </a:t>
            </a:r>
            <a:r>
              <a:rPr lang="en-US" altLang="ko-KR" sz="2600">
                <a:latin typeface="HY헤드라인M"/>
                <a:ea typeface="HY헤드라인M"/>
              </a:rPr>
              <a:t>“OOOO</a:t>
            </a:r>
            <a:r>
              <a:rPr lang="ko-KR" altLang="en-US" sz="2600">
                <a:latin typeface="HY헤드라인M"/>
                <a:ea typeface="HY헤드라인M"/>
              </a:rPr>
              <a:t>전공</a:t>
            </a:r>
            <a:r>
              <a:rPr lang="en-US" altLang="ko-KR" sz="2600">
                <a:latin typeface="HY헤드라인M"/>
                <a:ea typeface="HY헤드라인M"/>
              </a:rPr>
              <a:t>(</a:t>
            </a:r>
            <a:r>
              <a:rPr lang="ko-KR" altLang="en-US" sz="2600">
                <a:latin typeface="HY헤드라인M"/>
                <a:ea typeface="HY헤드라인M"/>
              </a:rPr>
              <a:t>과</a:t>
            </a:r>
            <a:r>
              <a:rPr lang="en-US" altLang="ko-KR" sz="2600">
                <a:latin typeface="HY헤드라인M"/>
                <a:ea typeface="HY헤드라인M"/>
              </a:rPr>
              <a:t>)”</a:t>
            </a:r>
            <a:r>
              <a:rPr lang="ko-KR" altLang="en-US" sz="2600">
                <a:latin typeface="HY헤드라인M"/>
                <a:ea typeface="HY헤드라인M"/>
              </a:rPr>
              <a:t>로</a:t>
            </a:r>
            <a:r>
              <a:rPr lang="en-US" altLang="ko-KR" sz="2600">
                <a:latin typeface="HY헤드라인M"/>
                <a:ea typeface="HY헤드라인M"/>
              </a:rPr>
              <a:t> </a:t>
            </a:r>
            <a:r>
              <a:rPr lang="ko-KR" altLang="en-US" sz="2600">
                <a:latin typeface="HY헤드라인M"/>
                <a:ea typeface="HY헤드라인M"/>
              </a:rPr>
              <a:t>선택</a:t>
            </a:r>
          </a:p>
          <a:p>
            <a:pPr lvl="0">
              <a:lnSpc>
                <a:spcPct val="100000"/>
              </a:lnSpc>
              <a:defRPr/>
            </a:pPr>
            <a:r>
              <a:rPr lang="ko-KR" altLang="en-US" sz="2600">
                <a:latin typeface="HY헤드라인M"/>
                <a:ea typeface="HY헤드라인M"/>
              </a:rPr>
              <a:t>과목 조회 후 상단 </a:t>
            </a:r>
            <a:r>
              <a:rPr lang="en-US" altLang="ko-KR" sz="2600">
                <a:latin typeface="HY헤드라인M"/>
                <a:ea typeface="HY헤드라인M"/>
              </a:rPr>
              <a:t>‘</a:t>
            </a:r>
            <a:r>
              <a:rPr lang="ko-KR" altLang="en-US" sz="2600">
                <a:latin typeface="HY헤드라인M"/>
                <a:ea typeface="HY헤드라인M"/>
              </a:rPr>
              <a:t>출력</a:t>
            </a:r>
            <a:r>
              <a:rPr lang="en-US" altLang="ko-KR" sz="2600">
                <a:latin typeface="HY헤드라인M"/>
                <a:ea typeface="HY헤드라인M"/>
              </a:rPr>
              <a:t>’</a:t>
            </a:r>
            <a:r>
              <a:rPr lang="ko-KR" altLang="en-US" sz="2600">
                <a:latin typeface="HY헤드라인M"/>
                <a:ea typeface="HY헤드라인M"/>
              </a:rPr>
              <a:t>클릭하여 수업계획서 확인 가능</a:t>
            </a:r>
          </a:p>
          <a:p>
            <a:pPr lvl="0">
              <a:lnSpc>
                <a:spcPct val="100000"/>
              </a:lnSpc>
              <a:defRPr/>
            </a:pPr>
            <a:r>
              <a:rPr lang="ko-KR" altLang="en-US" sz="2600">
                <a:latin typeface="HY헤드라인M"/>
                <a:ea typeface="HY헤드라인M"/>
              </a:rPr>
              <a:t>과목 조회 시 </a:t>
            </a:r>
            <a:r>
              <a:rPr lang="en-US" altLang="ko-KR" sz="2600">
                <a:latin typeface="HY헤드라인M"/>
                <a:ea typeface="HY헤드라인M"/>
              </a:rPr>
              <a:t>“</a:t>
            </a:r>
            <a:r>
              <a:rPr lang="ko-KR" altLang="en-US" sz="2600">
                <a:latin typeface="HY헤드라인M"/>
                <a:ea typeface="HY헤드라인M"/>
              </a:rPr>
              <a:t>수강번호</a:t>
            </a:r>
            <a:r>
              <a:rPr lang="en-US" altLang="ko-KR" sz="2600">
                <a:latin typeface="HY헤드라인M"/>
                <a:ea typeface="HY헤드라인M"/>
              </a:rPr>
              <a:t>＂</a:t>
            </a:r>
            <a:r>
              <a:rPr lang="ko-KR" altLang="en-US" sz="2600">
                <a:latin typeface="HY헤드라인M"/>
                <a:ea typeface="HY헤드라인M"/>
              </a:rPr>
              <a:t>로 수강신청 가능하므로 같이 확인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ko-KR" sz="1900">
                <a:latin typeface="HY헤드라인M"/>
                <a:ea typeface="HY헤드라인M"/>
              </a:rPr>
              <a:t>  </a:t>
            </a:r>
            <a:r>
              <a:rPr lang="en-US" altLang="ko-KR" sz="1900">
                <a:solidFill>
                  <a:srgbClr val="0070C0"/>
                </a:solidFill>
                <a:latin typeface="HY헤드라인M"/>
                <a:ea typeface="HY헤드라인M"/>
              </a:rPr>
              <a:t>* </a:t>
            </a:r>
            <a:r>
              <a:rPr lang="ko-KR" altLang="en-US" sz="1900">
                <a:solidFill>
                  <a:srgbClr val="0070C0"/>
                </a:solidFill>
                <a:latin typeface="HY헤드라인M"/>
                <a:ea typeface="HY헤드라인M"/>
              </a:rPr>
              <a:t>수강번호</a:t>
            </a:r>
            <a:r>
              <a:rPr lang="en-US" altLang="ko-KR" sz="1900">
                <a:solidFill>
                  <a:srgbClr val="0070C0"/>
                </a:solidFill>
                <a:latin typeface="HY헤드라인M"/>
                <a:ea typeface="HY헤드라인M"/>
              </a:rPr>
              <a:t>(4</a:t>
            </a:r>
            <a:r>
              <a:rPr lang="ko-KR" altLang="en-US" sz="1900">
                <a:solidFill>
                  <a:srgbClr val="0070C0"/>
                </a:solidFill>
                <a:latin typeface="HY헤드라인M"/>
                <a:ea typeface="HY헤드라인M"/>
              </a:rPr>
              <a:t>자리</a:t>
            </a:r>
            <a:r>
              <a:rPr lang="en-US" altLang="ko-KR" sz="1900">
                <a:solidFill>
                  <a:srgbClr val="0070C0"/>
                </a:solidFill>
                <a:latin typeface="HY헤드라인M"/>
                <a:ea typeface="HY헤드라인M"/>
              </a:rPr>
              <a:t>, XOOO, FOOO, MOOO </a:t>
            </a:r>
            <a:r>
              <a:rPr lang="ko-KR" altLang="en-US" sz="1900">
                <a:solidFill>
                  <a:srgbClr val="0070C0"/>
                </a:solidFill>
                <a:latin typeface="HY헤드라인M"/>
                <a:ea typeface="HY헤드라인M"/>
              </a:rPr>
              <a:t>등</a:t>
            </a:r>
            <a:r>
              <a:rPr lang="en-US" altLang="ko-KR" sz="1900">
                <a:solidFill>
                  <a:srgbClr val="0070C0"/>
                </a:solidFill>
                <a:latin typeface="HY헤드라인M"/>
                <a:ea typeface="HY헤드라인M"/>
              </a:rPr>
              <a:t>)</a:t>
            </a:r>
            <a:r>
              <a:rPr lang="ko-KR" altLang="en-US" sz="1900">
                <a:solidFill>
                  <a:srgbClr val="0070C0"/>
                </a:solidFill>
                <a:latin typeface="HY헤드라인M"/>
                <a:ea typeface="HY헤드라인M"/>
              </a:rPr>
              <a:t>는 매학기마다 변경되므로 매학기 확인 필요</a:t>
            </a:r>
            <a:endParaRPr lang="en-US" altLang="ko-KR" sz="1900">
              <a:solidFill>
                <a:srgbClr val="0070C0"/>
              </a:solidFill>
              <a:latin typeface="HY헤드라인M"/>
              <a:ea typeface="HY헤드라인M"/>
            </a:endParaRPr>
          </a:p>
        </p:txBody>
      </p:sp>
    </p:spTree>
    <p:extLst>
      <p:ext uri="{BB962C8B-B14F-4D97-AF65-F5344CB8AC3E}">
        <p14:creationId xmlns:p14="http://schemas.microsoft.com/office/powerpoint/2010/main" val="396633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" y="2086114"/>
            <a:ext cx="7143815" cy="4064000"/>
          </a:xfrm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206432" y="3941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시간표 보는 방법은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</a:p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A.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블럭과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교시 확인하기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275433" y="2101062"/>
            <a:ext cx="5067993" cy="1434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indent="-270510" algn="just" fontAlgn="base">
              <a:lnSpc>
                <a:spcPct val="15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(3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개블럭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): A1(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월수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C1(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월수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E1(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월수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70510" indent="-270510" algn="just" fontAlgn="base">
              <a:lnSpc>
                <a:spcPct val="15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(3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개블럭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): B2(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월목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B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D2(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월목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F2(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월목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F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70510" indent="-270510" algn="just" fontAlgn="base">
              <a:lnSpc>
                <a:spcPct val="15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(3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개블럭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): G1(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B,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H1(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D,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I1(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F,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70510" indent="-270510" algn="just" fontAlgn="base">
              <a:lnSpc>
                <a:spcPct val="15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금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(3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개블럭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): A2(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화금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C2(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화금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E2(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화금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70510" indent="-270510" algn="just" fontAlgn="base">
              <a:lnSpc>
                <a:spcPct val="150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• 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금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(3</a:t>
            </a:r>
            <a:r>
              <a:rPr lang="ko-KR" altLang="en-US" sz="1200" kern="0" dirty="0" err="1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개블럭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): B1(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수금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B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D1(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수금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), F1(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수금 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F</a:t>
            </a:r>
            <a:r>
              <a:rPr lang="ko-KR" altLang="en-US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</a:t>
            </a:r>
            <a:r>
              <a:rPr lang="en-US" altLang="ko-KR" sz="12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365075" y="3995898"/>
            <a:ext cx="3512128" cy="992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indent="-270510" algn="just" fontAlgn="base">
              <a:lnSpc>
                <a:spcPct val="150000"/>
              </a:lnSpc>
            </a:pPr>
            <a:r>
              <a:rPr lang="ko-KR" altLang="en-US" sz="1300" kern="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잠깐</a:t>
            </a:r>
            <a:r>
              <a:rPr lang="en-US" altLang="ko-KR" sz="1300" kern="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!!</a:t>
            </a:r>
          </a:p>
          <a:p>
            <a:pPr marL="270510" indent="-270510" algn="just" fontAlgn="base">
              <a:lnSpc>
                <a:spcPct val="150000"/>
              </a:lnSpc>
            </a:pPr>
            <a:r>
              <a:rPr lang="en-US" altLang="ko-KR" sz="13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1.5, 2.5</a:t>
            </a:r>
            <a:r>
              <a:rPr lang="ko-KR" altLang="en-US" sz="13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의 </a:t>
            </a:r>
            <a:r>
              <a:rPr lang="en-US" altLang="ko-KR" sz="13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.5</a:t>
            </a:r>
            <a:r>
              <a:rPr lang="ko-KR" altLang="en-US" sz="13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교시는 몇 시일까</a:t>
            </a:r>
            <a:r>
              <a:rPr lang="en-US" altLang="ko-KR" sz="1300" kern="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</a:p>
          <a:p>
            <a:pPr algn="just" fontAlgn="base">
              <a:lnSpc>
                <a:spcPct val="150000"/>
              </a:lnSpc>
            </a:pP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A. 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숫자 교시의 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30</a:t>
            </a:r>
            <a:r>
              <a:rPr lang="ko-KR" altLang="en-US" sz="1300" kern="0" spc="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분을 의미</a:t>
            </a:r>
            <a:r>
              <a:rPr lang="en-US" altLang="ko-KR" sz="1300" kern="0" spc="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. 9:30, 10:30</a:t>
            </a:r>
            <a:endParaRPr lang="ko-KR" altLang="en-US" sz="1300" kern="0" spc="0" dirty="0">
              <a:solidFill>
                <a:srgbClr val="000000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322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4949" y="581256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수강신청은 어디서 하는가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b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</a:b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A. sugang.ajou.ac.kr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접속하기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88076" y="2128060"/>
            <a:ext cx="9752216" cy="406492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사이트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(http://sugang.ajou.ac.kr)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 접속하기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포털의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ID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와 비밀번호로 로그인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&lt;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&gt;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페이지는 수강신청 시작 시간 정각부터 들어갈 수 있음</a:t>
            </a: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매 학기 수강신청 공지사항을 첨부파일까지 반드시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!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확인하기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매뉴얼 미리 확인하기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(*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별첨 수강신청 매뉴얼 참조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종료 후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“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로그아웃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＂</a:t>
            </a:r>
          </a:p>
          <a:p>
            <a:pPr marL="0" indent="0">
              <a:buNone/>
            </a:pP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2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 이상의 브라우저에서 동시 접속 시 기존 접속된 브라우저가 자동 종료됨</a:t>
            </a: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00000"/>
              </a:lnSpc>
            </a:pP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78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5197" y="282000"/>
            <a:ext cx="10515600" cy="881784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용어 익히기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-1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705197" y="1230287"/>
            <a:ext cx="10965872" cy="52785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예비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우선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본수강신청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전 미리 책가방에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담아놓기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우선수강신청 대상 과목에 한하여 정원 이내 신청 종료된 경우 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본수강신청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결과로 이관됨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미이관된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과목은 책가방에 남아있음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재학생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복학 신청한 휴학생 대상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신입생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신규 편입생은 입학한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학기는 대상 아니며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2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학기부터 대상임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본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학년별 본격 수강신청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학년별로 일정이 다름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(5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일동안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4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-3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-2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-1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학년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전체학년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순서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입학한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학기에만 신입생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신규 편입생 수강신청 일정이 따로 있으며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 2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학기부터는 재학생 수강신청 </a:t>
            </a: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일정에 같이 진행</a:t>
            </a: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재학생</a:t>
            </a: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신입생</a:t>
            </a: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신편입생</a:t>
            </a: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), </a:t>
            </a:r>
            <a:r>
              <a:rPr lang="ko-KR" altLang="en-US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복학 신청한 휴학생 대상 </a:t>
            </a: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 </a:t>
            </a:r>
            <a:r>
              <a:rPr lang="ko-KR" altLang="en-US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신청은 선착순 방식</a:t>
            </a: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 err="1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수강정정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개강 후 수강신청 과목을 변경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취소 모두 가능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하는 기간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재학생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신입생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신규 편입생 모두 포함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대상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신청은 선착순 방식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645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7008" y="531380"/>
            <a:ext cx="10515600" cy="881784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용어 익히기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-2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008" y="1604357"/>
            <a:ext cx="11132127" cy="45304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 err="1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수강포기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 err="1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수강철회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수강신청한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과목 중 </a:t>
            </a:r>
            <a:r>
              <a:rPr lang="en-US" altLang="ko-KR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를 포기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철회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할 수 있는 기간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개만 취소가 가능하므로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그 이상 취소하고 싶은 경우 </a:t>
            </a:r>
            <a:r>
              <a:rPr lang="ko-KR" altLang="en-US" sz="1800" dirty="0" err="1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수강정정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기간에 취소해야 함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다산학부대학에서</a:t>
            </a: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자동수강신청된 과목은 포기 불가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2400" dirty="0">
                <a:solidFill>
                  <a:srgbClr val="C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자동수강신청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신입생 대상으로 다산학부대학 및 학과에서 진행하는 수강신청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자동수강신청된 과목은 학생이 신청할 필요가 없으며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학과별 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신청내역이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다름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*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별첨 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신입생 자동수강신청 안내</a:t>
            </a:r>
            <a:r>
              <a:rPr lang="en-US" altLang="ko-KR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] </a:t>
            </a:r>
            <a:r>
              <a:rPr lang="ko-KR" altLang="en-US" sz="18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자료 확인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학과별 공지사항 같이 확인하기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1800" dirty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*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자동수강신청된 내역은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2/22(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토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부터 확인 가능함</a:t>
            </a: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   (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확인경로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포털 로그인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-(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학사서비스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수업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/</a:t>
            </a:r>
            <a:r>
              <a:rPr lang="ko-KR" altLang="en-US" sz="1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비교과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수강신청결과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-2025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학기로 조회</a:t>
            </a:r>
            <a:r>
              <a:rPr lang="en-US" altLang="ko-KR" sz="1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ko-KR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619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2564" y="406691"/>
            <a:ext cx="10515600" cy="881784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방법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신입학생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20EAE0-E5B1-41D4-A9AE-A7461B7BA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65" y="1280008"/>
            <a:ext cx="4999235" cy="54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3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2564" y="406691"/>
            <a:ext cx="10515600" cy="881784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Q. </a:t>
            </a:r>
            <a:r>
              <a:rPr lang="ko-KR" altLang="en-US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순서</a:t>
            </a:r>
            <a:r>
              <a:rPr lang="en-US" altLang="ko-KR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-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편</a:t>
            </a:r>
            <a:r>
              <a:rPr lang="ko-KR" altLang="en-US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입학생</a:t>
            </a:r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201D34-9516-41AC-9E2D-57BAE07D8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84" y="1288475"/>
            <a:ext cx="4253583" cy="546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0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>
          <a:xfrm>
            <a:off x="1831571" y="4237581"/>
            <a:ext cx="8081359" cy="1085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4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16377" y="2278548"/>
            <a:ext cx="11511746" cy="1085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‘</a:t>
            </a:r>
            <a:r>
              <a:rPr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수강신청 매뉴얼</a:t>
            </a:r>
            <a:r>
              <a:rPr lang="en-US" altLang="ko-KR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＇</a:t>
            </a:r>
            <a:r>
              <a:rPr lang="ko-KR" altLang="en-US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을 반드시 확인하세요</a:t>
            </a:r>
            <a:r>
              <a:rPr lang="en-US" altLang="ko-KR" sz="4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!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ko-KR" altLang="en-US" sz="4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3526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Microsoft Office PowerPoint</Application>
  <PresentationFormat>와이드스크린</PresentationFormat>
  <Paragraphs>71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HY헤드라인M</vt:lpstr>
      <vt:lpstr>맑은 고딕</vt:lpstr>
      <vt:lpstr>Arial</vt:lpstr>
      <vt:lpstr>Office 테마</vt:lpstr>
      <vt:lpstr>PowerPoint 프레젠테이션</vt:lpstr>
      <vt:lpstr>Q. 어떤 과목을 들어야하는가? A. 입학년도 교육과정 확인하기 </vt:lpstr>
      <vt:lpstr>Q. 어떤 과목이 개설되었는가? A. 수업시간표/수업계획서 확인하기</vt:lpstr>
      <vt:lpstr>PowerPoint 프레젠테이션</vt:lpstr>
      <vt:lpstr>Q. 수강신청은 어디서 하는가? A. sugang.ajou.ac.kr 접속하기</vt:lpstr>
      <vt:lpstr>Q. 수강신청 용어 익히기-1</vt:lpstr>
      <vt:lpstr>Q. 수강신청 용어 익히기-2</vt:lpstr>
      <vt:lpstr>Q. 수강신청 방법-신입학생</vt:lpstr>
      <vt:lpstr>Q. 수강신청 순서-편입학생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수강신청 (2020.02.25.(화))  - 오전 10시 정각 ~ 오후 4시 </dc:title>
  <dc:creator>ajou2015</dc:creator>
  <cp:lastModifiedBy>ajou</cp:lastModifiedBy>
  <cp:revision>56</cp:revision>
  <dcterms:created xsi:type="dcterms:W3CDTF">2020-02-17T01:24:21Z</dcterms:created>
  <dcterms:modified xsi:type="dcterms:W3CDTF">2025-02-17T04:20:22Z</dcterms:modified>
  <cp:version/>
</cp:coreProperties>
</file>